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55380" y="1234440"/>
            <a:ext cx="2834640" cy="438912"/>
          </a:xfrm>
          <a:prstGeom prst="round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83980" y="1307592"/>
            <a:ext cx="54864" cy="292608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19" y="1874519"/>
            <a:ext cx="2423160" cy="438912"/>
          </a:xfrm>
          <a:prstGeom prst="round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19" y="1947672"/>
            <a:ext cx="54864" cy="292608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41080" y="2514600"/>
            <a:ext cx="3063240" cy="438912"/>
          </a:xfrm>
          <a:prstGeom prst="roundRect">
            <a:avLst/>
          </a:prstGeom>
          <a:solidFill>
            <a:srgbClr val="689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2587752"/>
            <a:ext cx="54864" cy="292608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3154680"/>
            <a:ext cx="2606040" cy="438912"/>
          </a:xfrm>
          <a:prstGeom prst="roundRect">
            <a:avLst/>
          </a:prstGeom>
          <a:solidFill>
            <a:srgbClr val="5F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98280" y="3227832"/>
            <a:ext cx="54864" cy="292608"/>
          </a:xfrm>
          <a:prstGeom prst="rect">
            <a:avLst/>
          </a:prstGeom>
          <a:solidFill>
            <a:srgbClr val="19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8580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6BED0"/>
                </a:solidFill>
                <a:latin typeface="Aptos"/>
              </a:rPr>
              <a:t>PROJECT PRESENTATION  /  JAVA WEB APPLICATION</a:t>
            </a:r>
            <a:endParaRPr sz="1100" b="1" i="0">
              <a:solidFill>
                <a:srgbClr val="36BED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1325880"/>
            <a:ext cx="7040880" cy="11182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3400" b="1" i="0">
                <a:solidFill>
                  <a:srgbClr val="F8FAFD"/>
                </a:solidFill>
                <a:latin typeface="Aptos"/>
              </a:rPr>
              <a:t>Online Library</a:t>
            </a:r>
            <a:r>
              <a:rPr sz="3400" b="1" i="0">
                <a:solidFill>
                  <a:srgbClr val="F8FAFD"/>
                </a:solidFill>
                <a:latin typeface="Aptos"/>
              </a:rPr>
              <a:t>
Management System</a:t>
            </a:r>
            <a:endParaRPr sz="34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63093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2DEF0"/>
                </a:solidFill>
                <a:latin typeface="Aptos"/>
              </a:rPr>
              <a:t>A role-based web application for managing books, members, borrowing, returns and library operations.</a:t>
            </a:r>
            <a:endParaRPr sz="1700" b="0" i="0">
              <a:solidFill>
                <a:srgbClr val="D2DEF0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4160520"/>
            <a:ext cx="822960" cy="54864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62272"/>
            <a:ext cx="53949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8FAFD"/>
                </a:solidFill>
                <a:latin typeface="Aptos"/>
              </a:rPr>
              <a:t>Project made by:</a:t>
            </a:r>
            <a:endParaRPr sz="1200" b="1">
              <a:solidFill>
                <a:srgbClr val="F8FAFD"/>
              </a:solidFill>
              <a:latin typeface="Aptos"/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F8FAFD"/>
                </a:solidFill>
                <a:latin typeface="Aptos"/>
              </a:rPr>
              <a:t>Anurag Kumar — Leader</a:t>
            </a:r>
            <a:endParaRPr sz="1200" b="1">
              <a:solidFill>
                <a:srgbClr val="F8FAFD"/>
              </a:solidFill>
              <a:latin typeface="Aptos"/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F8FAFD"/>
                </a:solidFill>
                <a:latin typeface="Aptos"/>
              </a:rPr>
              <a:t>Ayush Bharti — Member</a:t>
            </a:r>
            <a:endParaRPr sz="1200" b="0">
              <a:solidFill>
                <a:srgbClr val="F8FAFD"/>
              </a:solidFill>
              <a:latin typeface="Aptos"/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F8FAFD"/>
                </a:solidFill>
                <a:latin typeface="Aptos"/>
              </a:rPr>
              <a:t>Yuvraj Saini — Member</a:t>
            </a:r>
            <a:endParaRPr sz="1200" b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630936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0D0E5"/>
                </a:solidFill>
                <a:latin typeface="Aptos"/>
              </a:rPr>
              <a:t>Galgotias University </a:t>
            </a:r>
            <a:endParaRPr sz="1100" b="0" i="0">
              <a:solidFill>
                <a:srgbClr val="C0D0E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0D0E5"/>
                </a:solidFill>
                <a:latin typeface="Aptos"/>
              </a:rPr>
              <a:t>01</a:t>
            </a:r>
            <a:endParaRPr sz="900" b="1" i="0">
              <a:solidFill>
                <a:srgbClr val="C0D0E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Problem Statement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Why a library management system is needed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02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49377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12B3C"/>
                </a:solidFill>
                <a:latin typeface="Aptos"/>
              </a:rPr>
              <a:t>Manual library workflows can become difficult to track.</a:t>
            </a:r>
            <a:endParaRPr sz="23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267712"/>
            <a:ext cx="4983480" cy="338328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rPr sz="1600" b="1">
                <a:solidFill>
                  <a:srgbClr val="3974DB"/>
                </a:solidFill>
              </a:rPr>
              <a:t>•  </a:t>
            </a:r>
            <a:r>
              <a:rPr sz="1600" b="1">
                <a:solidFill>
                  <a:srgbClr val="212B3C"/>
                </a:solidFill>
              </a:rPr>
              <a:t>Record management: </a:t>
            </a:r>
            <a:r>
              <a:rPr sz="1600">
                <a:solidFill>
                  <a:srgbClr val="212B3C"/>
                </a:solidFill>
              </a:rPr>
              <a:t>book and member details may be scattered across registers.</a:t>
            </a:r>
            <a:endParaRPr sz="1600">
              <a:solidFill>
                <a:srgbClr val="212B3C"/>
              </a:solidFill>
            </a:endParaRPr>
          </a:p>
          <a:p>
            <a:pPr>
              <a:spcAft>
                <a:spcPts val="16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rPr sz="1600" b="1">
                <a:solidFill>
                  <a:srgbClr val="3974DB"/>
                </a:solidFill>
              </a:rPr>
              <a:t>•  </a:t>
            </a:r>
            <a:r>
              <a:rPr sz="1600" b="1">
                <a:solidFill>
                  <a:srgbClr val="212B3C"/>
                </a:solidFill>
              </a:rPr>
              <a:t>Availability tracking: </a:t>
            </a:r>
            <a:r>
              <a:rPr sz="1600">
                <a:solidFill>
                  <a:srgbClr val="212B3C"/>
                </a:solidFill>
              </a:rPr>
              <a:t>staff need a reliable view of available copies.</a:t>
            </a:r>
            <a:endParaRPr sz="1600">
              <a:solidFill>
                <a:srgbClr val="212B3C"/>
              </a:solidFill>
            </a:endParaRPr>
          </a:p>
          <a:p>
            <a:pPr>
              <a:spcAft>
                <a:spcPts val="16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rPr sz="1600" b="1">
                <a:solidFill>
                  <a:srgbClr val="3974DB"/>
                </a:solidFill>
              </a:rPr>
              <a:t>•  </a:t>
            </a:r>
            <a:r>
              <a:rPr sz="1600" b="1">
                <a:solidFill>
                  <a:srgbClr val="212B3C"/>
                </a:solidFill>
              </a:rPr>
              <a:t>Borrowing and returns: </a:t>
            </a:r>
            <a:r>
              <a:rPr sz="1600">
                <a:solidFill>
                  <a:srgbClr val="212B3C"/>
                </a:solidFill>
              </a:rPr>
              <a:t>transactions require consistent updates and history.</a:t>
            </a:r>
            <a:endParaRPr sz="1600">
              <a:solidFill>
                <a:srgbClr val="212B3C"/>
              </a:solidFill>
            </a:endParaRPr>
          </a:p>
          <a:p>
            <a:pPr>
              <a:spcAft>
                <a:spcPts val="16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rPr sz="1600" b="1">
                <a:solidFill>
                  <a:srgbClr val="3974DB"/>
                </a:solidFill>
              </a:rPr>
              <a:t>•  </a:t>
            </a:r>
            <a:r>
              <a:rPr sz="1600" b="1">
                <a:solidFill>
                  <a:srgbClr val="212B3C"/>
                </a:solidFill>
              </a:rPr>
              <a:t>Overdue handling: </a:t>
            </a:r>
            <a:r>
              <a:rPr sz="1600">
                <a:solidFill>
                  <a:srgbClr val="212B3C"/>
                </a:solidFill>
              </a:rPr>
              <a:t>late returns need follow-up and fine/notification support.</a:t>
            </a:r>
            <a:endParaRPr sz="1600">
              <a:solidFill>
                <a:srgbClr val="212B3C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4297680"/>
          </a:xfrm>
          <a:prstGeom prst="round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874519"/>
            <a:ext cx="4297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11D35"/>
                </a:solidFill>
                <a:latin typeface="Aptos"/>
              </a:rPr>
              <a:t>Project response</a:t>
            </a:r>
            <a:endParaRPr sz="21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12280" y="2514600"/>
            <a:ext cx="384048" cy="384048"/>
          </a:xfrm>
          <a:prstGeom prst="ellipse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596896"/>
            <a:ext cx="3840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01</a:t>
            </a:r>
            <a:endParaRPr sz="9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60920" y="2496312"/>
            <a:ext cx="3566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B3C"/>
                </a:solidFill>
                <a:latin typeface="Aptos"/>
              </a:rPr>
              <a:t>Centralise</a:t>
            </a:r>
            <a:endParaRPr sz="14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0920" y="2770632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Books, members and transactions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12280" y="3264408"/>
            <a:ext cx="384048" cy="384048"/>
          </a:xfrm>
          <a:prstGeom prst="ellipse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346703"/>
            <a:ext cx="3840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02</a:t>
            </a:r>
            <a:endParaRPr sz="9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60920" y="3246120"/>
            <a:ext cx="3566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B3C"/>
                </a:solidFill>
                <a:latin typeface="Aptos"/>
              </a:rPr>
              <a:t>Control access</a:t>
            </a:r>
            <a:endParaRPr sz="14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60920" y="3520439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Separate member and librarian actions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12280" y="4014215"/>
            <a:ext cx="384048" cy="384048"/>
          </a:xfrm>
          <a:prstGeom prst="ellipse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096511"/>
            <a:ext cx="3840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03</a:t>
            </a:r>
            <a:endParaRPr sz="9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60920" y="3995928"/>
            <a:ext cx="3566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B3C"/>
                </a:solidFill>
                <a:latin typeface="Aptos"/>
              </a:rPr>
              <a:t>Improve accuracy</a:t>
            </a:r>
            <a:endParaRPr sz="14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60920" y="4270248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Database-backed issue/return workflows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12280" y="4764024"/>
            <a:ext cx="384048" cy="384048"/>
          </a:xfrm>
          <a:prstGeom prst="ellipse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846320"/>
            <a:ext cx="3840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8FAFD"/>
                </a:solidFill>
                <a:latin typeface="Aptos"/>
              </a:rPr>
              <a:t>04</a:t>
            </a:r>
            <a:endParaRPr sz="9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60920" y="4745736"/>
            <a:ext cx="3566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B3C"/>
                </a:solidFill>
                <a:latin typeface="Aptos"/>
              </a:rPr>
              <a:t>Automate follow-up</a:t>
            </a:r>
            <a:endParaRPr sz="14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0920" y="5020056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Background notifications and reporting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Objectives &amp; Proposed Solution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A structured workflow from catalogue to transaction history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03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Manage the catalogue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Add, update, search and organise book records.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64008" cy="1600200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0078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Manage members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Maintain member profiles and role-based access.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4008" cy="1600200"/>
          </a:xfrm>
          <a:prstGeom prst="rect">
            <a:avLst/>
          </a:prstGeom>
          <a:solidFill>
            <a:srgbClr val="25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Track circulation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Record borrowing, returns, due dates and fines.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20440"/>
            <a:ext cx="64008" cy="1600200"/>
          </a:xfrm>
          <a:prstGeom prst="rect">
            <a:avLst/>
          </a:prstGeom>
          <a:solidFill>
            <a:srgbClr val="E7A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666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Protect data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405079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Validate requests and use controlled database operations.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352044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520440"/>
            <a:ext cx="64008" cy="1600200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666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Support staff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405079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Provide librarian dashboards and report views.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46720" y="3520440"/>
            <a:ext cx="342900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20440"/>
            <a:ext cx="64008" cy="1600200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66674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Reduce manual work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47888" y="4050791"/>
            <a:ext cx="3063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Use scheduled background processing for notifications.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D35"/>
                </a:solidFill>
                <a:latin typeface="Aptos"/>
              </a:rPr>
              <a:t>Solution principle: keep presentation, business rules and database access in separate layers.</a:t>
            </a:r>
            <a:endParaRPr sz="1500" b="1" i="0">
              <a:solidFill>
                <a:srgbClr val="111D3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Key Features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Functional scope represented in the source code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04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755648"/>
            <a:ext cx="384048" cy="384048"/>
          </a:xfrm>
          <a:prstGeom prst="ellipse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Book catalogue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28600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Search books and manage book records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38728" y="157276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9896" y="1755648"/>
            <a:ext cx="384048" cy="384048"/>
          </a:xfrm>
          <a:prstGeom prst="ellipse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373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Member management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9896" y="228600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Maintain member details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19088" y="157276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0255" y="1755648"/>
            <a:ext cx="384048" cy="384048"/>
          </a:xfrm>
          <a:prstGeom prst="ellipse">
            <a:avLst/>
          </a:prstGeom>
          <a:solidFill>
            <a:srgbClr val="25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Borrow / return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0255" y="228600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Record transactions and update availability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299448" y="157276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0616" y="1755648"/>
            <a:ext cx="384048" cy="384048"/>
          </a:xfrm>
          <a:prstGeom prst="ellipse">
            <a:avLst/>
          </a:prstGeom>
          <a:solidFill>
            <a:srgbClr val="E7A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7373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Borrowing history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0616" y="228600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Review transaction records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358444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3767328"/>
            <a:ext cx="384048" cy="384048"/>
          </a:xfrm>
          <a:prstGeom prst="ellipse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749039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Authentication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" y="429768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Login, logout and session handling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538728" y="358444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39896" y="3767328"/>
            <a:ext cx="384048" cy="384048"/>
          </a:xfrm>
          <a:prstGeom prst="ellipse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3749039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Authorisation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39896" y="429768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Restrict routes by user role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19088" y="358444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0255" y="3767328"/>
            <a:ext cx="384048" cy="384048"/>
          </a:xfrm>
          <a:prstGeom prst="ellipse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749039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Notifications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0255" y="429768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Notification views and preferences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299448" y="3584448"/>
            <a:ext cx="2606040" cy="16002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00616" y="3767328"/>
            <a:ext cx="384048" cy="384048"/>
          </a:xfrm>
          <a:prstGeom prst="ellipse">
            <a:avLst/>
          </a:prstGeom>
          <a:solidFill>
            <a:srgbClr val="25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3749039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B3C"/>
                </a:solidFill>
                <a:latin typeface="Aptos"/>
              </a:rPr>
              <a:t>Reports</a:t>
            </a:r>
            <a:endParaRPr sz="15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00616" y="4297680"/>
            <a:ext cx="217627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Summarise library activity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System Architecture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Layered Java web application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05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1481328"/>
            <a:ext cx="10469880" cy="758952"/>
          </a:xfrm>
          <a:prstGeom prst="roundRect">
            <a:avLst/>
          </a:prstGeom>
          <a:solidFill>
            <a:srgbClr val="E5E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591056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974DB"/>
                </a:solidFill>
                <a:latin typeface="Aptos"/>
              </a:rPr>
              <a:t>PRESENTATION LAYER</a:t>
            </a:r>
            <a:endParaRPr sz="1200" b="1" i="0">
              <a:solidFill>
                <a:srgbClr val="3974D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1591056"/>
            <a:ext cx="7909559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B3C"/>
                </a:solidFill>
                <a:latin typeface="Aptos"/>
              </a:rPr>
              <a:t>JSP / JSTL views  •  HTML / CSS</a:t>
            </a:r>
            <a:endParaRPr sz="13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487168"/>
            <a:ext cx="10469880" cy="758952"/>
          </a:xfrm>
          <a:prstGeom prst="roundRect">
            <a:avLst/>
          </a:prstGeom>
          <a:solidFill>
            <a:srgbClr val="E2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596896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6BED0"/>
                </a:solidFill>
                <a:latin typeface="Aptos"/>
              </a:rPr>
              <a:t>WEB / CONTROLLER LAYER</a:t>
            </a:r>
            <a:endParaRPr sz="1200" b="1" i="0">
              <a:solidFill>
                <a:srgbClr val="36BED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2596896"/>
            <a:ext cx="7909559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B3C"/>
                </a:solidFill>
                <a:latin typeface="Aptos"/>
              </a:rPr>
              <a:t>Jakarta Servlets  •  Filters  •  Request routing</a:t>
            </a:r>
            <a:endParaRPr sz="13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3493008"/>
            <a:ext cx="10469880" cy="758952"/>
          </a:xfrm>
          <a:prstGeom prst="roundRect">
            <a:avLst/>
          </a:prstGeom>
          <a:solidFill>
            <a:srgbClr val="E8F7EE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602736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9D70"/>
                </a:solidFill>
                <a:latin typeface="Aptos"/>
              </a:rPr>
              <a:t>BUSINESS LAYER</a:t>
            </a:r>
            <a:endParaRPr sz="1200" b="1" i="0">
              <a:solidFill>
                <a:srgbClr val="259D7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3602736"/>
            <a:ext cx="7909559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B3C"/>
                </a:solidFill>
                <a:latin typeface="Aptos"/>
              </a:rPr>
              <a:t>LibraryService  •  Validation  •  Access policies</a:t>
            </a:r>
            <a:endParaRPr sz="13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4498848"/>
            <a:ext cx="10469880" cy="758952"/>
          </a:xfrm>
          <a:prstGeom prst="roundRect">
            <a:avLst/>
          </a:prstGeom>
          <a:solidFill>
            <a:srgbClr val="FFF5E2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608576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A536"/>
                </a:solidFill>
                <a:latin typeface="Aptos"/>
              </a:rPr>
              <a:t>DATA ACCESS LAYER</a:t>
            </a:r>
            <a:endParaRPr sz="1200" b="1" i="0">
              <a:solidFill>
                <a:srgbClr val="E7A53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0" y="4608576"/>
            <a:ext cx="7909559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B3C"/>
                </a:solidFill>
                <a:latin typeface="Aptos"/>
              </a:rPr>
              <a:t>DAO interfaces and implementations  •  JDBC</a:t>
            </a:r>
            <a:endParaRPr sz="13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5504688"/>
            <a:ext cx="10469880" cy="530352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614416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11D35"/>
                </a:solidFill>
                <a:latin typeface="Aptos"/>
              </a:rPr>
              <a:t>DATABASE</a:t>
            </a:r>
            <a:endParaRPr sz="12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0" y="5614416"/>
            <a:ext cx="7909559" cy="3657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B3C"/>
                </a:solidFill>
                <a:latin typeface="Aptos"/>
              </a:rPr>
              <a:t>MySQL tables for users, books, categories, transactions and related records</a:t>
            </a:r>
            <a:endParaRPr sz="13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5623560" y="2267712"/>
            <a:ext cx="411480" cy="219456"/>
          </a:xfrm>
          <a:prstGeom prst="downArrow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623560" y="3273552"/>
            <a:ext cx="411480" cy="219456"/>
          </a:xfrm>
          <a:prstGeom prst="downArrow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623560" y="4279392"/>
            <a:ext cx="411480" cy="219456"/>
          </a:xfrm>
          <a:prstGeom prst="downArrow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623560" y="5285232"/>
            <a:ext cx="411480" cy="219456"/>
          </a:xfrm>
          <a:prstGeom prst="downArrow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User Roles &amp; Main Workflows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Role-based access supports different responsibilities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06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029200" cy="347472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64008" cy="3474720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00784"/>
            <a:ext cx="4663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B3C"/>
                </a:solidFill>
                <a:latin typeface="Aptos"/>
              </a:rPr>
              <a:t>MEMBER</a:t>
            </a:r>
            <a:endParaRPr sz="20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" y="2084831"/>
            <a:ext cx="4663440" cy="28346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8768C"/>
                </a:solidFill>
                <a:latin typeface="Aptos"/>
              </a:rPr>
              <a:t>• Sign in and manage profile
• Search the book catalogue
• Borrow eligible books
• View borrowing history and notifications</a:t>
            </a:r>
            <a:endParaRPr sz="16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029200" cy="347472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3474720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700784"/>
            <a:ext cx="4663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B3C"/>
                </a:solidFill>
                <a:latin typeface="Aptos"/>
              </a:rPr>
              <a:t>LIBRARIAN</a:t>
            </a:r>
            <a:endParaRPr sz="20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2084831"/>
            <a:ext cx="4663440" cy="28346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8768C"/>
                </a:solidFill>
                <a:latin typeface="Aptos"/>
              </a:rPr>
              <a:t>• Manage book records
• Manage members
• Review and manage transactions
• Access reports and notification administration</a:t>
            </a:r>
            <a:endParaRPr sz="16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5440680"/>
            <a:ext cx="2331720" cy="68580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550408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D35"/>
                </a:solidFill>
                <a:latin typeface="Aptos"/>
              </a:rPr>
              <a:t>Search</a:t>
            </a:r>
            <a:endParaRPr sz="13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5797296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8768C"/>
                </a:solidFill>
                <a:latin typeface="Aptos"/>
              </a:rPr>
              <a:t>Find a book</a:t>
            </a:r>
            <a:endParaRPr sz="9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337560" y="5650992"/>
            <a:ext cx="292608" cy="201168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49039" y="5440680"/>
            <a:ext cx="2331720" cy="685800"/>
          </a:xfrm>
          <a:prstGeom prst="roundRect">
            <a:avLst/>
          </a:prstGeom>
          <a:solidFill>
            <a:srgbClr val="E4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5550408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D35"/>
                </a:solidFill>
                <a:latin typeface="Aptos"/>
              </a:rPr>
              <a:t>Issue</a:t>
            </a:r>
            <a:endParaRPr sz="13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58768" y="5797296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8768C"/>
                </a:solidFill>
                <a:latin typeface="Aptos"/>
              </a:rPr>
              <a:t>Check eligibility</a:t>
            </a:r>
            <a:endParaRPr sz="9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172200" y="5650992"/>
            <a:ext cx="292608" cy="201168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5440680"/>
            <a:ext cx="2331720" cy="68580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5550408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D35"/>
                </a:solidFill>
                <a:latin typeface="Aptos"/>
              </a:rPr>
              <a:t>Return</a:t>
            </a:r>
            <a:endParaRPr sz="13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93408" y="5797296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8768C"/>
                </a:solidFill>
                <a:latin typeface="Aptos"/>
              </a:rPr>
              <a:t>Update status</a:t>
            </a:r>
            <a:endParaRPr sz="9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9006840" y="5650992"/>
            <a:ext cx="292608" cy="201168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0" y="5440680"/>
            <a:ext cx="2331720" cy="685800"/>
          </a:xfrm>
          <a:prstGeom prst="roundRect">
            <a:avLst/>
          </a:prstGeom>
          <a:solidFill>
            <a:srgbClr val="E4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5550408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D35"/>
                </a:solidFill>
                <a:latin typeface="Aptos"/>
              </a:rPr>
              <a:t>Review</a:t>
            </a:r>
            <a:endParaRPr sz="13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28048" y="5797296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8768C"/>
                </a:solidFill>
                <a:latin typeface="Aptos"/>
              </a:rPr>
              <a:t>History / reports</a:t>
            </a:r>
            <a:endParaRPr sz="900" b="0" i="0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Database Design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Relational data model at a glance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07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23160" cy="114300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22037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974DB"/>
                </a:solidFill>
                <a:latin typeface="Aptos"/>
              </a:rPr>
              <a:t>CATEGORIES</a:t>
            </a:r>
            <a:endParaRPr sz="1200" b="1" i="0">
              <a:solidFill>
                <a:srgbClr val="3974D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816" y="2039112"/>
            <a:ext cx="216712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2B3C"/>
                </a:solidFill>
                <a:latin typeface="Aptos"/>
              </a:rPr>
              <a:t>id (PK)
name, description</a:t>
            </a:r>
            <a:endParaRPr sz="10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0" y="1600200"/>
            <a:ext cx="2606040" cy="1143000"/>
          </a:xfrm>
          <a:prstGeom prst="roundRect">
            <a:avLst/>
          </a:prstGeom>
          <a:solidFill>
            <a:srgbClr val="E4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709928"/>
            <a:ext cx="23865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6BED0"/>
                </a:solidFill>
                <a:latin typeface="Aptos"/>
              </a:rPr>
              <a:t>BOOKS</a:t>
            </a:r>
            <a:endParaRPr sz="1200" b="1" i="0">
              <a:solidFill>
                <a:srgbClr val="36BED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85615" y="2039112"/>
            <a:ext cx="23500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2B3C"/>
                </a:solidFill>
                <a:latin typeface="Aptos"/>
              </a:rPr>
              <a:t>id (PK)
category_id (FK), ISBN
copies / availability</a:t>
            </a:r>
            <a:endParaRPr sz="10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03720" y="1600200"/>
            <a:ext cx="260604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1709928"/>
            <a:ext cx="23865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9D70"/>
                </a:solidFill>
                <a:latin typeface="Aptos"/>
              </a:rPr>
              <a:t>USERS</a:t>
            </a:r>
            <a:endParaRPr sz="1200" b="1" i="0">
              <a:solidFill>
                <a:srgbClr val="259D7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31736" y="2039112"/>
            <a:ext cx="23500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2B3C"/>
                </a:solidFill>
                <a:latin typeface="Aptos"/>
              </a:rPr>
              <a:t>id (PK)
member / librarian data</a:t>
            </a:r>
            <a:endParaRPr sz="10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03720" y="3886200"/>
            <a:ext cx="2880360" cy="1234440"/>
          </a:xfrm>
          <a:prstGeom prst="roundRect">
            <a:avLst/>
          </a:prstGeom>
          <a:solidFill>
            <a:srgbClr val="FFF5E2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3995928"/>
            <a:ext cx="26609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A536"/>
                </a:solidFill>
                <a:latin typeface="Aptos"/>
              </a:rPr>
              <a:t>BOOK_ISSUES / TRANSACTIONS</a:t>
            </a:r>
            <a:endParaRPr sz="1200" b="1" i="0">
              <a:solidFill>
                <a:srgbClr val="E7A53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31736" y="4325112"/>
            <a:ext cx="262432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2B3C"/>
                </a:solidFill>
                <a:latin typeface="Aptos"/>
              </a:rPr>
              <a:t>book_id (FK)
user_id (FK), dates, status</a:t>
            </a:r>
            <a:endParaRPr sz="1000" b="0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012680" y="3886200"/>
            <a:ext cx="1508760" cy="1234440"/>
          </a:xfrm>
          <a:prstGeom prst="roundRect">
            <a:avLst/>
          </a:prstGeom>
          <a:solidFill>
            <a:srgbClr val="FFEBE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7" y="3995928"/>
            <a:ext cx="12893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D5555"/>
                </a:solidFill>
                <a:latin typeface="Aptos"/>
              </a:rPr>
              <a:t>FINES</a:t>
            </a:r>
            <a:endParaRPr sz="1200" b="1" i="0">
              <a:solidFill>
                <a:srgbClr val="CD555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40696" y="4325112"/>
            <a:ext cx="125272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2B3C"/>
                </a:solidFill>
                <a:latin typeface="Aptos"/>
              </a:rPr>
              <a:t>issue reference
amount / status</a:t>
            </a:r>
            <a:endParaRPr sz="1000" b="0" i="0">
              <a:solidFill>
                <a:srgbClr val="212B3C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2176272"/>
            <a:ext cx="548640" cy="0"/>
          </a:xfrm>
          <a:prstGeom prst="line">
            <a:avLst/>
          </a:prstGeom>
          <a:ln w="25400">
            <a:solidFill>
              <a:srgbClr val="397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02168" y="2743200"/>
            <a:ext cx="0" cy="1143000"/>
          </a:xfrm>
          <a:prstGeom prst="line">
            <a:avLst/>
          </a:prstGeom>
          <a:ln w="25400">
            <a:solidFill>
              <a:srgbClr val="397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84080" y="4498848"/>
            <a:ext cx="228600" cy="0"/>
          </a:xfrm>
          <a:prstGeom prst="line">
            <a:avLst/>
          </a:prstGeom>
          <a:ln w="25400">
            <a:solidFill>
              <a:srgbClr val="397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886200"/>
            <a:ext cx="54406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Design notes
• Primary and foreign keys link related records.
• Transaction updates should keep inventory and issue records consistent.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596128"/>
            <a:ext cx="10698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8768C"/>
                </a:solidFill>
                <a:latin typeface="Aptos"/>
              </a:rPr>
              <a:t>Exact column names and relationships should be read from the submitted schema.sql.</a:t>
            </a:r>
            <a:endParaRPr sz="1000" b="0" i="1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Core Java Concepts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Mapped to the Java GUI / web evaluation criteria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08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57800" cy="1572768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572768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OOP &amp; interfaces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48920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Model classes encapsulate data; DAO and service interfaces define contracts; implementations provide behaviour.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1572768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572768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Inheritance &amp; exceptions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48920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A base LibraryException and specialised exceptions represent domain errors.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3456432"/>
            <a:ext cx="5257800" cy="1572768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64008" cy="1572768"/>
          </a:xfrm>
          <a:prstGeom prst="rect">
            <a:avLst/>
          </a:prstGeom>
          <a:solidFill>
            <a:srgbClr val="25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02736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Collections &amp; generics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3986783"/>
            <a:ext cx="48920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Typed collections support lists, maps and structured results across service and DAO layers.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456432"/>
            <a:ext cx="5257800" cy="1572768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56432"/>
            <a:ext cx="64008" cy="1572768"/>
          </a:xfrm>
          <a:prstGeom prst="rect">
            <a:avLst/>
          </a:prstGeom>
          <a:solidFill>
            <a:srgbClr val="E7A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602736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12B3C"/>
                </a:solidFill>
                <a:latin typeface="Aptos"/>
              </a:rPr>
              <a:t>Multithreading</a:t>
            </a:r>
            <a:endParaRPr sz="17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3986783"/>
            <a:ext cx="48920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8768C"/>
                </a:solidFill>
                <a:latin typeface="Aptos"/>
              </a:rPr>
              <a:t>ScheduledExecutorService runs background notification work using Runnable tasks.</a:t>
            </a:r>
            <a:endParaRPr sz="13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05840" y="5486400"/>
            <a:ext cx="10149840" cy="5486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623560"/>
            <a:ext cx="9784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FAFD"/>
                </a:solidFill>
                <a:latin typeface="Aptos"/>
              </a:rPr>
              <a:t>Book-specific synchronisation helps protect concurrent issue / return operations.</a:t>
            </a:r>
            <a:endParaRPr sz="1300" b="1" i="0">
              <a:solidFill>
                <a:srgbClr val="F8FAF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Database Integration with JDBC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How the application persists and retrieves data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09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37760" cy="438912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12B3C"/>
                </a:solidFill>
                <a:latin typeface="Aptos"/>
              </a:defRPr>
            </a:pPr>
            <a:r>
              <a:rPr sz="1500" b="1">
                <a:solidFill>
                  <a:srgbClr val="3974DB"/>
                </a:solidFill>
              </a:rPr>
              <a:t>•  </a:t>
            </a:r>
            <a:r>
              <a:rPr sz="1500" b="1">
                <a:solidFill>
                  <a:srgbClr val="212B3C"/>
                </a:solidFill>
              </a:rPr>
              <a:t>Connection: </a:t>
            </a:r>
            <a:r>
              <a:rPr sz="1500">
                <a:solidFill>
                  <a:srgbClr val="212B3C"/>
                </a:solidFill>
              </a:rPr>
              <a:t>DBConnection centralises database connection setup.</a:t>
            </a:r>
            <a:endParaRPr sz="1500">
              <a:solidFill>
                <a:srgbClr val="212B3C"/>
              </a:solidFill>
            </a:endParaRPr>
          </a:p>
          <a:p>
            <a:pPr>
              <a:spcAft>
                <a:spcPts val="1500"/>
              </a:spcAft>
              <a:defRPr sz="1500">
                <a:solidFill>
                  <a:srgbClr val="212B3C"/>
                </a:solidFill>
                <a:latin typeface="Aptos"/>
              </a:defRPr>
            </a:pPr>
            <a:r>
              <a:rPr sz="1500" b="1">
                <a:solidFill>
                  <a:srgbClr val="3974DB"/>
                </a:solidFill>
              </a:rPr>
              <a:t>•  </a:t>
            </a:r>
            <a:r>
              <a:rPr sz="1500" b="1">
                <a:solidFill>
                  <a:srgbClr val="212B3C"/>
                </a:solidFill>
              </a:rPr>
              <a:t>PreparedStatement: </a:t>
            </a:r>
            <a:r>
              <a:rPr sz="1500">
                <a:solidFill>
                  <a:srgbClr val="212B3C"/>
                </a:solidFill>
              </a:rPr>
              <a:t>parameterised SQL is used for database operations.</a:t>
            </a:r>
            <a:endParaRPr sz="1500">
              <a:solidFill>
                <a:srgbClr val="212B3C"/>
              </a:solidFill>
            </a:endParaRPr>
          </a:p>
          <a:p>
            <a:pPr>
              <a:spcAft>
                <a:spcPts val="1500"/>
              </a:spcAft>
              <a:defRPr sz="1500">
                <a:solidFill>
                  <a:srgbClr val="212B3C"/>
                </a:solidFill>
                <a:latin typeface="Aptos"/>
              </a:defRPr>
            </a:pPr>
            <a:r>
              <a:rPr sz="1500" b="1">
                <a:solidFill>
                  <a:srgbClr val="3974DB"/>
                </a:solidFill>
              </a:rPr>
              <a:t>•  </a:t>
            </a:r>
            <a:r>
              <a:rPr sz="1500" b="1">
                <a:solidFill>
                  <a:srgbClr val="212B3C"/>
                </a:solidFill>
              </a:rPr>
              <a:t>ResultSet: </a:t>
            </a:r>
            <a:r>
              <a:rPr sz="1500">
                <a:solidFill>
                  <a:srgbClr val="212B3C"/>
                </a:solidFill>
              </a:rPr>
              <a:t>query results are mapped into Java model objects.</a:t>
            </a:r>
            <a:endParaRPr sz="1500">
              <a:solidFill>
                <a:srgbClr val="212B3C"/>
              </a:solidFill>
            </a:endParaRPr>
          </a:p>
          <a:p>
            <a:pPr>
              <a:spcAft>
                <a:spcPts val="1500"/>
              </a:spcAft>
              <a:defRPr sz="1500">
                <a:solidFill>
                  <a:srgbClr val="212B3C"/>
                </a:solidFill>
                <a:latin typeface="Aptos"/>
              </a:defRPr>
            </a:pPr>
            <a:r>
              <a:rPr sz="1500" b="1">
                <a:solidFill>
                  <a:srgbClr val="3974DB"/>
                </a:solidFill>
              </a:rPr>
              <a:t>•  </a:t>
            </a:r>
            <a:r>
              <a:rPr sz="1500" b="1">
                <a:solidFill>
                  <a:srgbClr val="212B3C"/>
                </a:solidFill>
              </a:rPr>
              <a:t>DAO layer: </a:t>
            </a:r>
            <a:r>
              <a:rPr sz="1500">
                <a:solidFill>
                  <a:srgbClr val="212B3C"/>
                </a:solidFill>
              </a:rPr>
              <a:t>data access code is separated from controllers and services.</a:t>
            </a:r>
            <a:endParaRPr sz="1500">
              <a:solidFill>
                <a:srgbClr val="212B3C"/>
              </a:solidFill>
            </a:endParaRPr>
          </a:p>
          <a:p>
            <a:pPr>
              <a:spcAft>
                <a:spcPts val="1500"/>
              </a:spcAft>
              <a:defRPr sz="1500">
                <a:solidFill>
                  <a:srgbClr val="212B3C"/>
                </a:solidFill>
                <a:latin typeface="Aptos"/>
              </a:defRPr>
            </a:pPr>
            <a:r>
              <a:rPr sz="1500" b="1">
                <a:solidFill>
                  <a:srgbClr val="3974DB"/>
                </a:solidFill>
              </a:rPr>
              <a:t>•  </a:t>
            </a:r>
            <a:r>
              <a:rPr sz="1500" b="1">
                <a:solidFill>
                  <a:srgbClr val="212B3C"/>
                </a:solidFill>
              </a:rPr>
              <a:t>Transactions: </a:t>
            </a:r>
            <a:r>
              <a:rPr sz="1500">
                <a:solidFill>
                  <a:srgbClr val="212B3C"/>
                </a:solidFill>
              </a:rPr>
              <a:t>commit / rollback protects multi-step operations.</a:t>
            </a:r>
            <a:endParaRPr sz="1500">
              <a:solidFill>
                <a:srgbClr val="212B3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212080" cy="35204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6BED0"/>
                </a:solidFill>
                <a:latin typeface="Aptos"/>
              </a:rPr>
              <a:t>TRANSACTION FLOW</a:t>
            </a:r>
            <a:endParaRPr sz="1200" b="1" i="0">
              <a:solidFill>
                <a:srgbClr val="36BED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572000" cy="2240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8FAFD"/>
                </a:solidFill>
                <a:latin typeface="Consolas" panose="020B0609020204030204"/>
              </a:rPr>
              <a:t>connection.setAutoCommit(false);
// validate and update records
// issue / return operation
connection.commit();
// on failure: rollback</a:t>
            </a:r>
            <a:endParaRPr sz="1600" b="0" i="0">
              <a:solidFill>
                <a:srgbClr val="F8FAFD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5440680"/>
            <a:ext cx="4892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8768C"/>
                </a:solidFill>
                <a:latin typeface="Aptos"/>
              </a:rPr>
              <a:t>Goal: keep book availability and transaction records consistent.</a:t>
            </a:r>
            <a:endParaRPr sz="1300" b="1" i="0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Servlets &amp; Web Integration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Request handling, sessions and access control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10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1965960" cy="109728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203911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5"/>
                </a:solidFill>
                <a:latin typeface="Aptos"/>
              </a:rPr>
              <a:t>Browser</a:t>
            </a:r>
            <a:endParaRPr sz="14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3503" y="2423160"/>
            <a:ext cx="18105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HTTP request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560320" y="2258568"/>
            <a:ext cx="256032" cy="219456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9504" y="1828800"/>
            <a:ext cx="1965960" cy="1097280"/>
          </a:xfrm>
          <a:prstGeom prst="roundRect">
            <a:avLst/>
          </a:prstGeom>
          <a:solidFill>
            <a:srgbClr val="E4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03911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5"/>
                </a:solidFill>
                <a:latin typeface="Aptos"/>
              </a:rPr>
              <a:t>Servlet</a:t>
            </a:r>
            <a:endParaRPr sz="14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2656" y="2423160"/>
            <a:ext cx="18105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doGet / doPost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4919472" y="2258568"/>
            <a:ext cx="256032" cy="219456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48656" y="1828800"/>
            <a:ext cx="1965960" cy="109728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03911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5"/>
                </a:solidFill>
                <a:latin typeface="Aptos"/>
              </a:rPr>
              <a:t>Service</a:t>
            </a:r>
            <a:endParaRPr sz="14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21808" y="2423160"/>
            <a:ext cx="18105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Business rules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278624" y="2258568"/>
            <a:ext cx="256032" cy="219456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07808" y="1828800"/>
            <a:ext cx="1965960" cy="1097280"/>
          </a:xfrm>
          <a:prstGeom prst="roundRect">
            <a:avLst/>
          </a:prstGeom>
          <a:solidFill>
            <a:srgbClr val="E4F8F9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03911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5"/>
                </a:solidFill>
                <a:latin typeface="Aptos"/>
              </a:rPr>
              <a:t>DAO + JDBC</a:t>
            </a:r>
            <a:endParaRPr sz="14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0" y="2423160"/>
            <a:ext cx="18105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Database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9637776" y="2258568"/>
            <a:ext cx="256032" cy="219456"/>
          </a:xfrm>
          <a:prstGeom prst="chevron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1828800"/>
            <a:ext cx="1965960" cy="1097280"/>
          </a:xfrm>
          <a:prstGeom prst="roundRect">
            <a:avLst/>
          </a:prstGeom>
          <a:solidFill>
            <a:srgbClr val="EBF2FB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2" y="203911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5"/>
                </a:solidFill>
                <a:latin typeface="Aptos"/>
              </a:rPr>
              <a:t>JSP</a:t>
            </a:r>
            <a:endParaRPr sz="1400" b="1" i="0">
              <a:solidFill>
                <a:srgbClr val="111D3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40112" y="2423160"/>
            <a:ext cx="18105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8768C"/>
                </a:solidFill>
                <a:latin typeface="Aptos"/>
              </a:rPr>
              <a:t>Response view</a:t>
            </a:r>
            <a:endParaRPr sz="10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3429000" cy="141732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80390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B3C"/>
                </a:solidFill>
                <a:latin typeface="Aptos"/>
              </a:rPr>
              <a:t>Authentication</a:t>
            </a:r>
            <a:endParaRPr sz="1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2688" y="4187952"/>
            <a:ext cx="30632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Session-based login and logout flow.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657600"/>
            <a:ext cx="64008" cy="1417320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80390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B3C"/>
                </a:solidFill>
                <a:latin typeface="Aptos"/>
              </a:rPr>
              <a:t>Authorisation</a:t>
            </a:r>
            <a:endParaRPr sz="1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90288" y="4187952"/>
            <a:ext cx="30632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Filters restrict protected routes by role.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46720" y="3657600"/>
            <a:ext cx="3429000" cy="141732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657600"/>
            <a:ext cx="64008" cy="1417320"/>
          </a:xfrm>
          <a:prstGeom prst="rect">
            <a:avLst/>
          </a:prstGeom>
          <a:solidFill>
            <a:srgbClr val="25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803904"/>
            <a:ext cx="3063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B3C"/>
                </a:solidFill>
                <a:latin typeface="Aptos"/>
              </a:rPr>
              <a:t>Request protection</a:t>
            </a:r>
            <a:endParaRPr sz="1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47888" y="4187952"/>
            <a:ext cx="30632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68C"/>
                </a:solidFill>
                <a:latin typeface="Aptos"/>
              </a:rPr>
              <a:t>CSRF-related filter and validation utilities.</a:t>
            </a:r>
            <a:endParaRPr sz="12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68768C"/>
                </a:solidFill>
                <a:latin typeface="Aptos"/>
              </a:rPr>
              <a:t>Runtime note: deployment and end-to-end behaviour should be verified in the target Tomcat / MySQL setup.</a:t>
            </a:r>
            <a:endParaRPr sz="1200" b="0" i="1">
              <a:solidFill>
                <a:srgbClr val="6876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2B3C"/>
                </a:solidFill>
                <a:latin typeface="Aptos"/>
              </a:rPr>
              <a:t>Application Walkthrough</a:t>
            </a:r>
            <a:endParaRPr sz="2600" b="1" i="0">
              <a:solidFill>
                <a:srgbClr val="212B3C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68C"/>
                </a:solidFill>
                <a:latin typeface="Aptos"/>
              </a:rPr>
              <a:t>Use this slide to show the actual running interface during the presentation</a:t>
            </a:r>
            <a:endParaRPr sz="1100" b="0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97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68C"/>
                </a:solidFill>
                <a:latin typeface="Aptos"/>
              </a:rPr>
              <a:t>11</a:t>
            </a:r>
            <a:endParaRPr sz="900" b="1" i="0">
              <a:solidFill>
                <a:srgbClr val="68768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8768C"/>
                </a:solidFill>
                <a:latin typeface="Aptos"/>
              </a:rPr>
              <a:t>ONLINE LIBRARY  •  JAVA WEB PROJECT</a:t>
            </a:r>
            <a:endParaRPr sz="800" b="1">
              <a:solidFill>
                <a:srgbClr val="68768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532120" cy="20574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10-09 19243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82" y="1417320"/>
            <a:ext cx="4021474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502151"/>
            <a:ext cx="5532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Member dashboard</a:t>
            </a:r>
            <a:endParaRPr sz="1000" b="1">
              <a:solidFill>
                <a:srgbClr val="212B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212080" cy="20574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10-09 192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165" y="1417320"/>
            <a:ext cx="4031908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3502151"/>
            <a:ext cx="5212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Librarian workspace</a:t>
            </a:r>
            <a:endParaRPr sz="1000" b="1">
              <a:solidFill>
                <a:srgbClr val="212B3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5532120" cy="20574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 2026-10-09 192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277" y="3703320"/>
            <a:ext cx="4038285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788152"/>
            <a:ext cx="5532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Inventory reports</a:t>
            </a:r>
            <a:endParaRPr sz="1000" b="1">
              <a:solidFill>
                <a:srgbClr val="212B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5212080" cy="2057400"/>
          </a:xfrm>
          <a:prstGeom prst="roundRect">
            <a:avLst/>
          </a:prstGeom>
          <a:solidFill>
            <a:srgbClr val="F8FAF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 2026-10-09 1925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825" y="3703320"/>
            <a:ext cx="4044588" cy="2057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788152"/>
            <a:ext cx="5212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Notifications</a:t>
            </a:r>
            <a:endParaRPr sz="1000" b="1">
              <a:solidFill>
                <a:srgbClr val="212B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D"/>
                </a:solidFill>
                <a:latin typeface="Aptos"/>
              </a:rPr>
              <a:t>Conclusion &amp; Future Scope</a:t>
            </a:r>
            <a:endParaRPr sz="26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0D0E5"/>
                </a:solidFill>
                <a:latin typeface="Aptos"/>
              </a:rPr>
              <a:t>Summary of the project</a:t>
            </a:r>
            <a:endParaRPr sz="1100" b="0" i="0">
              <a:solidFill>
                <a:srgbClr val="C0D0E5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713232" cy="50292"/>
          </a:xfrm>
          <a:prstGeom prst="rect">
            <a:avLst/>
          </a:prstGeom>
          <a:solidFill>
            <a:srgbClr val="36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0D0E5"/>
                </a:solidFill>
                <a:latin typeface="Aptos"/>
              </a:rPr>
              <a:t>12</a:t>
            </a:r>
            <a:endParaRPr sz="900" b="1" i="0">
              <a:solidFill>
                <a:srgbClr val="C0D0E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577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8FAFD"/>
                </a:solidFill>
                <a:latin typeface="Aptos"/>
              </a:rPr>
              <a:t>One system. Clearer library operations.</a:t>
            </a:r>
            <a:endParaRPr sz="24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669280" cy="274320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500" b="1">
                <a:solidFill>
                  <a:srgbClr val="36BED0"/>
                </a:solidFill>
              </a:rPr>
              <a:t>•  </a:t>
            </a:r>
            <a:r>
              <a:rPr sz="1500" b="1">
                <a:solidFill>
                  <a:srgbClr val="F8FAFD"/>
                </a:solidFill>
              </a:rPr>
              <a:t>Centralised workflows: </a:t>
            </a:r>
            <a:r>
              <a:rPr sz="1500">
                <a:solidFill>
                  <a:srgbClr val="F8FAFD"/>
                </a:solidFill>
              </a:rPr>
              <a:t>books, members and circulation.</a:t>
            </a:r>
            <a:endParaRPr sz="1500">
              <a:solidFill>
                <a:srgbClr val="F8FAFD"/>
              </a:solidFill>
            </a:endParaRPr>
          </a:p>
          <a:p>
            <a:pPr>
              <a:spcAft>
                <a:spcPts val="1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500" b="1">
                <a:solidFill>
                  <a:srgbClr val="36BED0"/>
                </a:solidFill>
              </a:rPr>
              <a:t>•  </a:t>
            </a:r>
            <a:r>
              <a:rPr sz="1500" b="1">
                <a:solidFill>
                  <a:srgbClr val="F8FAFD"/>
                </a:solidFill>
              </a:rPr>
              <a:t>Layered architecture: </a:t>
            </a:r>
            <a:r>
              <a:rPr sz="1500">
                <a:solidFill>
                  <a:srgbClr val="F8FAFD"/>
                </a:solidFill>
              </a:rPr>
              <a:t>JSP, Servlets, services, DAO and JDBC.</a:t>
            </a:r>
            <a:endParaRPr sz="1500">
              <a:solidFill>
                <a:srgbClr val="F8FAFD"/>
              </a:solidFill>
            </a:endParaRPr>
          </a:p>
          <a:p>
            <a:pPr>
              <a:spcAft>
                <a:spcPts val="1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500" b="1">
                <a:solidFill>
                  <a:srgbClr val="36BED0"/>
                </a:solidFill>
              </a:rPr>
              <a:t>•  </a:t>
            </a:r>
            <a:r>
              <a:rPr sz="1500" b="1">
                <a:solidFill>
                  <a:srgbClr val="F8FAFD"/>
                </a:solidFill>
              </a:rPr>
              <a:t>Reliability focus: </a:t>
            </a:r>
            <a:r>
              <a:rPr sz="1500">
                <a:solidFill>
                  <a:srgbClr val="F8FAFD"/>
                </a:solidFill>
              </a:rPr>
              <a:t>validation, transaction handling and access control.</a:t>
            </a:r>
            <a:endParaRPr sz="1500">
              <a:solidFill>
                <a:srgbClr val="F8FAFD"/>
              </a:solidFill>
            </a:endParaRPr>
          </a:p>
          <a:p>
            <a:pPr>
              <a:spcAft>
                <a:spcPts val="1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500" b="1">
                <a:solidFill>
                  <a:srgbClr val="36BED0"/>
                </a:solidFill>
              </a:rPr>
              <a:t>•  </a:t>
            </a:r>
            <a:r>
              <a:rPr sz="1500" b="1">
                <a:solidFill>
                  <a:srgbClr val="F8FAFD"/>
                </a:solidFill>
              </a:rPr>
              <a:t>Automation: </a:t>
            </a:r>
            <a:r>
              <a:rPr sz="1500">
                <a:solidFill>
                  <a:srgbClr val="F8FAFD"/>
                </a:solidFill>
              </a:rPr>
              <a:t>scheduled notification processing.</a:t>
            </a:r>
            <a:endParaRPr sz="1500">
              <a:solidFill>
                <a:srgbClr val="F8FAFD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95160" y="1600200"/>
            <a:ext cx="4343400" cy="3611880"/>
          </a:xfrm>
          <a:prstGeom prst="roundRect">
            <a:avLst/>
          </a:prstGeom>
          <a:solidFill>
            <a:srgbClr val="192B49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920240"/>
            <a:ext cx="3566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6BED0"/>
                </a:solidFill>
                <a:latin typeface="Aptos"/>
              </a:rPr>
              <a:t>FUTURE SCOPE</a:t>
            </a:r>
            <a:endParaRPr sz="1300" b="1" i="0">
              <a:solidFill>
                <a:srgbClr val="36BED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3611880" cy="219456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rPr sz="1300" b="1">
                <a:solidFill>
                  <a:srgbClr val="36BED0"/>
                </a:solidFill>
              </a:rPr>
              <a:t>•  </a:t>
            </a:r>
            <a:r>
              <a:rPr sz="1300">
                <a:solidFill>
                  <a:srgbClr val="F8FAFD"/>
                </a:solidFill>
              </a:rPr>
              <a:t>Deploy to a stable hosted environment</a:t>
            </a:r>
            <a:endParaRPr sz="1300">
              <a:solidFill>
                <a:srgbClr val="F8FAFD"/>
              </a:solidFill>
            </a:endParaRPr>
          </a:p>
          <a:p>
            <a:pPr>
              <a:spcAft>
                <a:spcPts val="12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rPr sz="1300" b="1">
                <a:solidFill>
                  <a:srgbClr val="36BED0"/>
                </a:solidFill>
              </a:rPr>
              <a:t>•  </a:t>
            </a:r>
            <a:r>
              <a:rPr sz="1300">
                <a:solidFill>
                  <a:srgbClr val="F8FAFD"/>
                </a:solidFill>
              </a:rPr>
              <a:t>Expand automated integration testing</a:t>
            </a:r>
            <a:endParaRPr sz="1300">
              <a:solidFill>
                <a:srgbClr val="F8FAFD"/>
              </a:solidFill>
            </a:endParaRPr>
          </a:p>
          <a:p>
            <a:pPr>
              <a:spcAft>
                <a:spcPts val="12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rPr sz="1300" b="1">
                <a:solidFill>
                  <a:srgbClr val="36BED0"/>
                </a:solidFill>
              </a:rPr>
              <a:t>•  </a:t>
            </a:r>
            <a:r>
              <a:rPr sz="1300">
                <a:solidFill>
                  <a:srgbClr val="F8FAFD"/>
                </a:solidFill>
              </a:rPr>
              <a:t>Improve analytics and usage reports</a:t>
            </a:r>
            <a:endParaRPr sz="1300">
              <a:solidFill>
                <a:srgbClr val="F8FAFD"/>
              </a:solidFill>
            </a:endParaRPr>
          </a:p>
          <a:p>
            <a:pPr>
              <a:spcAft>
                <a:spcPts val="12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rPr sz="1300" b="1">
                <a:solidFill>
                  <a:srgbClr val="36BED0"/>
                </a:solidFill>
              </a:rPr>
              <a:t>•  </a:t>
            </a:r>
            <a:r>
              <a:rPr sz="1300">
                <a:solidFill>
                  <a:srgbClr val="F8FAFD"/>
                </a:solidFill>
              </a:rPr>
              <a:t>Add barcode / QR-assisted circulation</a:t>
            </a:r>
            <a:endParaRPr sz="1300">
              <a:solidFill>
                <a:srgbClr val="F8FAFD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6400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Thank you  •  Questions?</a:t>
            </a:r>
            <a:endParaRPr sz="1800" b="1" i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0D0E5"/>
                </a:solidFill>
                <a:latin typeface="Aptos"/>
              </a:rPr>
              <a:t>12</a:t>
            </a:r>
            <a:endParaRPr sz="900" b="1" i="0">
              <a:solidFill>
                <a:srgbClr val="C0D0E5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5926</Words>
  <Application>WPS Presentation</Application>
  <PresentationFormat>On-screen Show (4:3)</PresentationFormat>
  <Paragraphs>350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Library</dc:title>
  <dc:creator>Anurag Kumar, Ayush Bharti, Yuvraj Saini</dc:creator>
  <cp:keywords>Online Library, Java, JSP, Servlets, JDBC, MySQL</cp:keywords>
  <dc:description>generated using python-pptx</dc:description>
  <dc:subject>Java Web Based Project Presentation</dc:subject>
  <cp:lastModifiedBy>LENOVO</cp:lastModifiedBy>
  <cp:revision>2</cp:revision>
  <dcterms:created xsi:type="dcterms:W3CDTF">2013-01-27T09:14:00Z</dcterms:created>
  <dcterms:modified xsi:type="dcterms:W3CDTF">2026-10-09T14:14:13Z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8F02C04179FB4C88BE55B5C663DAC1A1_12</vt:lpwstr>
  </property>
</Properties>
</file>